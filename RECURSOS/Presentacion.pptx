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3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rt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60473"/>
            <a:ext cx="309798" cy="559612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75104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A5C54"/>
                </a:solidFill>
              </a:defRPr>
            </a:pPr>
            <a:r>
              <a:t>¿Cómo anticipar un brote antes de que el sistema de salud se sobrecargue?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Los brotes de enfermedades transmisibles exigen detección temprana, pero la información está dispersa en fuentes abiertas difíciles de cruzar en tiempo útil.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Objetivo: priorizar municipios con señal de brote integrando morbilidad, vacunación, calidad del aire y acceso a salud.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Enfoque: apoyo analítico con revisión humana — no activación automática de emergencias.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FUENTES OFICIALES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Datos abiertos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3702"/>
            <a:ext cx="90891" cy="1150315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71907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SIVIGILA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12140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Casos semanales: dengue, hepatitis, chikungunya, fiebre tifoidea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146304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1733702"/>
            <a:ext cx="90891" cy="1150315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7952" y="171907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Vacunación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7952" y="212140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Cobertura pentavalente DPT-HepB-Hib (datos.gov.co)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146304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1733702"/>
            <a:ext cx="90891" cy="1150315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1" y="171907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Calidad del 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1" y="212140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PM2.5 anual municipal con fallback SISAIRE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42900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699662"/>
            <a:ext cx="90891" cy="1150315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368503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Indicadores 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08736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Mortalidad general y partos institucionales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342900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23360" y="3699662"/>
            <a:ext cx="90891" cy="1150315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87952" y="368503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DIVIPOLA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87952" y="408736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Validación territorial embebida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342900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79" y="3699662"/>
            <a:ext cx="90891" cy="1150315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62671" y="3685032"/>
            <a:ext cx="2880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Panel 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2671" y="408736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C6F6B"/>
                </a:solidFill>
              </a:defRPr>
            </a:pPr>
            <a:r>
              <a:t>20 ciudades · ~9.000 obs. · 15 variables · PostgreSQL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Solución e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Datos abiertos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Socrata · INS · SIVIGILA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79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Ingestión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Worker + PostgreSQL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0644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Modelo 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Random Forest + SHAP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1554480"/>
            <a:ext cx="2240280" cy="12344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66760" y="1751990"/>
            <a:ext cx="62727" cy="839419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1874519"/>
            <a:ext cx="1965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A5C54"/>
                </a:solidFill>
              </a:defRPr>
            </a:pPr>
            <a:r>
              <a:t>Plataforma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267712"/>
            <a:ext cx="1965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FastAPI + Next.js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926080" y="2148840"/>
            <a:ext cx="320040" cy="0"/>
          </a:xfrm>
          <a:prstGeom prst="line">
            <a:avLst/>
          </a:prstGeom>
          <a:ln w="31750">
            <a:solidFill>
              <a:srgbClr val="5EE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486400" y="2148840"/>
            <a:ext cx="320040" cy="0"/>
          </a:xfrm>
          <a:prstGeom prst="line">
            <a:avLst/>
          </a:prstGeom>
          <a:ln w="31750">
            <a:solidFill>
              <a:srgbClr val="5EE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46720" y="2148840"/>
            <a:ext cx="320040" cy="0"/>
          </a:xfrm>
          <a:prstGeom prst="line">
            <a:avLst/>
          </a:prstGeom>
          <a:ln w="31750">
            <a:solidFill>
              <a:srgbClr val="5EE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60" y="3246120"/>
            <a:ext cx="10515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Unidad analítica: municipio × semana epidemiológica × dengue (código 210)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Validación temporal: entrenamiento ≤ 2020 · prueba ≥ 2021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Explicabilidad SHAP TreeExplainer · fallback rule-based auditable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Despliegue reproducible con Docker Compose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IA EXPLICABLE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Random Forest y SHAP — ejemplo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61134"/>
            <a:ext cx="152339" cy="1461211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72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Random Forest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38528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Muchos árboles de decisión entrenados con muestras distintas.</a:t>
            </a:r>
          </a:p>
          <a:p>
            <a:pPr>
              <a:spcAft>
                <a:spcPts val="1000"/>
              </a:spcAft>
              <a:defRPr sz="11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Cada árbol responde: ¿señal de brote? (sí / no).</a:t>
            </a:r>
          </a:p>
          <a:p>
            <a:pPr>
              <a:spcAft>
                <a:spcPts val="1000"/>
              </a:spcAft>
              <a:defRPr sz="11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La probabilidad final es el promedio de votos del bosque.</a:t>
            </a:r>
          </a:p>
          <a:p>
            <a:pPr>
              <a:spcAft>
                <a:spcPts val="1000"/>
              </a:spcAft>
              <a:defRPr sz="11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Robusto ante ruido y combina 15 variables del panel.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761134"/>
            <a:ext cx="152339" cy="146121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72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5C54"/>
                </a:solidFill>
              </a:defRPr>
            </a:pPr>
            <a:r>
              <a:t>SHAP (TreeExplainer)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938528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Después de predecir, explica el porqué de la probabilidad.</a:t>
            </a:r>
          </a:p>
          <a:p>
            <a:pPr>
              <a:spcAft>
                <a:spcPts val="1000"/>
              </a:spcAft>
              <a:defRPr sz="11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Cada variable recibe una contribución (+ sube, − baja).</a:t>
            </a:r>
          </a:p>
          <a:p>
            <a:pPr>
              <a:spcAft>
                <a:spcPts val="1000"/>
              </a:spcAft>
              <a:defRPr sz="11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Las sumas de SHAP reconstruyen la salida del modelo.</a:t>
            </a:r>
          </a:p>
          <a:p>
            <a:pPr>
              <a:spcAft>
                <a:spcPts val="1000"/>
              </a:spcAft>
              <a:defRPr sz="11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Misma lógica que en la ficha territorial de la demo.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60"/>
            <a:ext cx="11064240" cy="233172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67835"/>
            <a:ext cx="309798" cy="1585569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913632"/>
            <a:ext cx="10607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A5C54"/>
                </a:solidFill>
              </a:defRPr>
            </a:pPr>
            <a:r>
              <a:t>Ejemplo ilustrativo — municipio con 180 casos dengue, mediana nacional 60, crecimiento semanal ×1.8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79392"/>
            <a:ext cx="2926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C6F6B"/>
                </a:solidFill>
              </a:defRPr>
            </a:pPr>
            <a:r>
              <a:t>Salida Random Forest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590288"/>
            <a:ext cx="29260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B45309"/>
                </a:solidFill>
              </a:defRPr>
            </a:pPr>
            <a:r>
              <a:t>82 %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230368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probabilidad de señal de brote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4315968"/>
            <a:ext cx="3246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42824"/>
                </a:solidFill>
              </a:defRPr>
            </a:pPr>
            <a:r>
              <a:t>Casos vs mediana nacional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80" y="4370831"/>
            <a:ext cx="2710281" cy="16459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35640" y="4315968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5309"/>
                </a:solidFill>
              </a:defRPr>
            </a:pPr>
            <a:r>
              <a:t>+28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4700016"/>
            <a:ext cx="3246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42824"/>
                </a:solidFill>
              </a:defRPr>
            </a:pPr>
            <a:r>
              <a:t>Crecimiento acelerado (WoW)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69480" y="4754879"/>
            <a:ext cx="1911095" cy="16459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5640" y="4700016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5309"/>
                </a:solidFill>
              </a:defRPr>
            </a:pPr>
            <a:r>
              <a:t>+18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5084064"/>
            <a:ext cx="3246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42824"/>
                </a:solidFill>
              </a:defRPr>
            </a:pPr>
            <a:r>
              <a:t>Ratio semana anterior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5138927"/>
            <a:ext cx="1320393" cy="16459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35640" y="5084064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5309"/>
                </a:solidFill>
              </a:defRPr>
            </a:pPr>
            <a:r>
              <a:t>+12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39" y="5468112"/>
            <a:ext cx="3246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42824"/>
                </a:solidFill>
              </a:defRPr>
            </a:pPr>
            <a:r>
              <a:t>Brecha de vacunación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69480" y="5522975"/>
            <a:ext cx="972921" cy="16459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5640" y="5468112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B45309"/>
                </a:solidFill>
              </a:defRPr>
            </a:pPr>
            <a:r>
              <a:t>+9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5852159"/>
            <a:ext cx="3246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42824"/>
                </a:solidFill>
              </a:defRPr>
            </a:pPr>
            <a:r>
              <a:t>Acceso a salud (partos inst.)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69480" y="5907023"/>
            <a:ext cx="625449" cy="164592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35640" y="5852159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A5C54"/>
                </a:solidFill>
              </a:defRPr>
            </a:pPr>
            <a:r>
              <a:t>−5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4041648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5C6F6B"/>
                </a:solidFill>
              </a:defRPr>
            </a:pPr>
            <a:r>
              <a:t>Contribuciones SHAP (top 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EVIDENCIA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Resultados y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7126"/>
            <a:ext cx="94731" cy="994867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27632"/>
            <a:ext cx="28346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A5C54"/>
                </a:solidFill>
              </a:defRPr>
            </a:pPr>
            <a:r>
              <a:t>3781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6F6B"/>
                </a:solidFill>
              </a:defRPr>
            </a:pPr>
            <a:r>
              <a:t>Muestras 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6304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97126"/>
            <a:ext cx="94731" cy="994867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627632"/>
            <a:ext cx="28346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B45309"/>
                </a:solidFill>
              </a:defRPr>
            </a:pPr>
            <a:r>
              <a:t>2319 / 1462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95728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6F6B"/>
                </a:solidFill>
              </a:defRPr>
            </a:pPr>
            <a:r>
              <a:t>Train /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463040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1697126"/>
            <a:ext cx="94731" cy="994867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27632"/>
            <a:ext cx="28346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A5C54"/>
                </a:solidFill>
              </a:defRPr>
            </a:pPr>
            <a:r>
              <a:t>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395728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6F6B"/>
                </a:solidFill>
              </a:defRPr>
            </a:pPr>
            <a:r>
              <a:t>F1 temporal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46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Modelo promovido: randomforest-outbreak-v1.0.0 (Random Forest + SHAP)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Cobertura: 20 ciudades principales · ~9.000 observaciones curadas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Cautela: panel acotado; validación epidemiológica externa pendiente</a:t>
            </a:r>
          </a:p>
          <a:p>
            <a:pPr>
              <a:spcAft>
                <a:spcPts val="1000"/>
              </a:spcAft>
              <a:defRPr sz="15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Demo en vivo: https://concurso-datos-abiertos-colombia-20.vercel.app/brotes  ·  Mapa /informe  ·  API https://epintel-api.onrender.com/docs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Plataforma en producción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40680" cy="416052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83003"/>
            <a:ext cx="152339" cy="2829153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o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527048"/>
            <a:ext cx="5294376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5239512"/>
            <a:ext cx="52212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5C6F6B"/>
                </a:solidFill>
              </a:defRPr>
            </a:pPr>
            <a:r>
              <a:t>Ficha territorial · señal y explicación SHAP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416052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2083003"/>
            <a:ext cx="152339" cy="2829153"/>
          </a:xfrm>
          <a:prstGeom prst="rect">
            <a:avLst/>
          </a:prstGeom>
          <a:solidFill>
            <a:srgbClr val="0A5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1527048"/>
            <a:ext cx="5294376" cy="3657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81928" y="5239512"/>
            <a:ext cx="52212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5C6F6B"/>
                </a:solidFill>
              </a:defRPr>
            </a:pPr>
            <a:r>
              <a:t>Mapa de señales · 20 ciudades principales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A5C54"/>
                </a:solidFill>
              </a:defRPr>
            </a:pPr>
            <a:r>
              <a:t>https://concurso-datos-abiertos-colombia-20.vercel.app  ·  https://concurso-datos-abiertos-colombia-20.vercel.app/brotes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IMPACTO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Impacto y 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FAFCFB"/>
          </a:solidFill>
          <a:ln w="9525">
            <a:solidFill>
              <a:srgbClr val="C8D9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60473"/>
            <a:ext cx="309798" cy="559612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75104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A5C54"/>
                </a:solidFill>
              </a:defRPr>
            </a:pPr>
            <a:r>
              <a:t>Valor público: prevención y respuesta temprana con trazabilidad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Beneficiarios: equipos de vigilancia en salud pública y gestión territorial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Permite focalizar recursos antes del pico de casos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Explicación clara de factores — evita caja negra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Reproducible con datos abiertos oficiales de Colombia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Sostenibilidad: ingestión automática, documentación, CI y despliegue Docker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46304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EAD4"/>
                </a:solidFill>
              </a:rPr>
              <a:t>ENTREGABLES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Repositorio y 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310896"/>
            <a:ext cx="1463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5EEAD4"/>
                </a:solidFill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GitHub: https://github.com/luisrapalino/concurso-datos-abiertos-colombia-2026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README.md — ficha técnica y guía de reproducción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docs/concurso-alignment.md — trazabilidad del reto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docs/data-dictionary.md — 15 variables del modelo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docs/ml-evaluation.md — validación, métricas y límites</a:t>
            </a:r>
          </a:p>
          <a:p>
            <a:pPr>
              <a:spcAft>
                <a:spcPts val="1000"/>
              </a:spcAft>
              <a:defRPr sz="1700">
                <a:solidFill>
                  <a:srgbClr val="142824"/>
                </a:solidFill>
                <a:latin typeface="Calibri"/>
              </a:defRPr>
            </a:pPr>
            <a:r>
              <a:rPr>
                <a:solidFill>
                  <a:srgbClr val="5EEAD4"/>
                </a:solidFill>
              </a:rPr>
              <a:t>■  RECURSOS/ — presentación, PDF y portada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F6B"/>
                </a:solidFill>
              </a:defRPr>
            </a:pPr>
            <a:r>
              <a:t>Radar de Brotes · Datos abiertos + IA explicable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73952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C6F6B"/>
                </a:solidFill>
              </a:defRPr>
            </a:pPr>
            <a:r>
              <a:t>Equipo ID 200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.bg-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EEAD4"/>
                </a:solidFill>
              </a:rPr>
              <a:t>C I E R R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Priorizamos municipios con señal de brote usando datos abiertos de Colombia e inteligencia artificial explicable.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Integración multifuente · Explicabilidad SHAP · Plataforma demostrable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</a:defRPr>
            </a:pPr>
            <a:r>
              <a:t>https://github.com/luisrapalino/concurso-datos-abiertos-colombia-2026</a:t>
            </a:r>
          </a:p>
          <a:p>
            <a:pPr>
              <a:spcAft>
                <a:spcPts val="1200"/>
              </a:spcAft>
              <a:defRPr sz="1600">
                <a:solidFill>
                  <a:srgbClr val="5EEAD4"/>
                </a:solidFill>
              </a:defRPr>
            </a:pPr>
            <a:r>
              <a:t>Gracias — preguntas técnicas bienvenidas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